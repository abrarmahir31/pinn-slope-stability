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7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C683C87-8102-7549-6C60-9DFF393DD257}"/>
              </a:ext>
            </a:extLst>
          </p:cNvPr>
          <p:cNvSpPr/>
          <p:nvPr/>
        </p:nvSpPr>
        <p:spPr>
          <a:xfrm>
            <a:off x="0" y="0"/>
            <a:ext cx="506437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766689"/>
            <a:ext cx="7680960" cy="10269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Analysis for Coupled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 Mechanical Slope Stability of 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Open-Pit Mine (using PINN)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ED2917-092A-276F-1DCA-6627999F5C19}"/>
              </a:ext>
            </a:extLst>
          </p:cNvPr>
          <p:cNvSpPr txBox="1"/>
          <p:nvPr/>
        </p:nvSpPr>
        <p:spPr>
          <a:xfrm>
            <a:off x="1086729" y="2222695"/>
            <a:ext cx="328480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Abrar Mahir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Regestration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No. 2020223031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5D03DD-F631-A7C5-DC58-9B7840383442}"/>
              </a:ext>
            </a:extLst>
          </p:cNvPr>
          <p:cNvSpPr txBox="1"/>
          <p:nvPr/>
        </p:nvSpPr>
        <p:spPr>
          <a:xfrm>
            <a:off x="4951827" y="2222695"/>
            <a:ext cx="383344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Md. Shofiqul Islam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Petroleum and Mining Engineering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Shahjalal University of Science and Technology, Sylhet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18BB47-3F65-8A8F-6864-B21BB081700A}"/>
              </a:ext>
            </a:extLst>
          </p:cNvPr>
          <p:cNvSpPr/>
          <p:nvPr/>
        </p:nvSpPr>
        <p:spPr>
          <a:xfrm>
            <a:off x="4549141" y="2222695"/>
            <a:ext cx="45719" cy="1878037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0" grpId="0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Presentation Outline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6949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 &amp; Problem Statement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Review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Gap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 of the Study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 &amp; Governing Equations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PINN Architecture &amp; Training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Study Area &amp; Data Source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Software Tools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Possible Outcomes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/ 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1. Introduction &amp; 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The Challenge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Open-pit mine slope failures are among the most destructive geological hazards globally, triggered by rainfall infiltration, pore-pressure buildup, and inadequate pit design.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Rainfall infiltration increases pore-water pressure, diminishes matric suction, and reduces effective stress and shear strength of the geomaterial.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Modeling this requires solving coupled nonlinear PDEs: Richards equation (seepage) + Navier-Cauchy (mechanics) simultaneously.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Limitations of Current Methods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46320" y="1554479"/>
            <a:ext cx="4114800" cy="3327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LEM: 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Requires assumed failure surface geometry; ignores stress-strain behavior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FEM-SSR: 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Mesh-dependent; computationally prohibitive for coupled transient HM problems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PINNs: 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Mesh-free, embeds physics in loss function, uses automatic differentiation — but no existing study applies coupled HM-PINN with dual failure criteria to real mine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1259058"/>
            <a:ext cx="0" cy="3495822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2. Literature Review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786384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041273"/>
              </p:ext>
            </p:extLst>
          </p:nvPr>
        </p:nvGraphicFramePr>
        <p:xfrm>
          <a:off x="457200" y="1259058"/>
          <a:ext cx="8229600" cy="3063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Author (Year)</a:t>
                      </a:r>
                      <a:endParaRPr lang="en-US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Focus Area</a:t>
                      </a:r>
                      <a:endParaRPr lang="en-US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Gap for This Study</a:t>
                      </a:r>
                      <a:endParaRPr lang="en-US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Ulusay et al. (2014)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Open-pit slope stability, hydrogeology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LEM + field investigation (423 Packer tests)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 PINN; no coupled HM numerical analysis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Bandai &amp; Ghezzehei (2021)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PINN for Richards equation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PINN inverse estimation of SWCC params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1D seepage only; no mechanics or FOS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Amini et al. (2023)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PINN for coupled THM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Fixed-Stress Split; Adam+L-BFGS training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 slope stability; no SSR; no mining context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He et al. (2024)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Surrogate FOS prediction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Data-driven NN trained on FEM-SSR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Not physics-informed; no PDE constraints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Bekele et al.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(2021)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PINN for geomechanics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Elastoplastic PINN with MC yield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 seepage coupling; MC only; no field data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Depina et al. (2022)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DD-PINN for heterogeneous soils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Domain decomposition for Richards eq.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Seepage only; no FOS; no mining scale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199" y="4413743"/>
            <a:ext cx="8229599" cy="594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six studies contribute individual components but none integrates coupled HM-PINN + dual failure criteria + real mine data.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C40F7B-221D-C0EF-817C-4CD370408C9A}"/>
              </a:ext>
            </a:extLst>
          </p:cNvPr>
          <p:cNvSpPr txBox="1"/>
          <p:nvPr/>
        </p:nvSpPr>
        <p:spPr>
          <a:xfrm>
            <a:off x="365758" y="865163"/>
            <a:ext cx="822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 : Literature Review Table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3. Research Gap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6858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 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20240" y="1142999"/>
            <a:ext cx="6583680" cy="685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coupled two-way HM-PINN framework exists for open-pit mine slope stability. Current PINNs address seepage OR mechanics in isolation.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097280" cy="6858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 2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study compares Mohr-Coulomb vs. Generalized Hoek-Brown FOS within a unified PINN-SSR framework on the same slope geometry.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1097280" cy="6858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 3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20240" y="3017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PINN geomechanics studies use synthetic/benchmark data. No application with real primary-source mine data (lab tests, piezometers, Packer tests).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097280" cy="6858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 4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20240" y="38862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quantitative impact of coupling strategy (one-way vs. two-way monolithic) on PINN-predicted FOS has not been investigated.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/ 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4. Objectives of the Study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36575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Formulate and implement coupled Richards + Navier-Cauchy equations within a monolithic two-way PINN framework with Kozeny-Carman porosity-strain feedback.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 Integrate the Shear Strength Reduction (SSR) method with the trained PINN for automatic FOS determination using both Mohr-Coulomb and Generalized Hoek-Brown criteria.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 Validate the PINN model against analytical solutions and published LEM results from the Işıkdere lignite mine using primary-source geotechnical data.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 Compare FOS predictions and critical failure surface geometries from MC and GHB criteria within the unified PINN-SSR framework.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/ 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5. Methodology - Governing Equations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Seepage Domain — Richards Equation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∂θ/∂t = ∇·[K(ψ)∇(ψ + z)] + 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Constitutive: Mualem–van Genuchten SWCC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Θ = [1 + (α|ψ|)ⁿ]⁻ᵐ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K(ψ) = Kₛ·Θ½·[1−(1−Θ^(1/m))^m]²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Mechanical Domain — Equilibrium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∇·σ + ρ₆·g = 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Bishop effective stress (unsaturated):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σ′ = σ − uₐ·I + χ(uₐ − uₗ)·I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Constitutive: σ = D(E,ν)·ε (Hooke’s law)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536896" y="3010485"/>
            <a:ext cx="6070209" cy="1120139"/>
          </a:xfrm>
          <a:prstGeom prst="rect">
            <a:avLst/>
          </a:prstGeom>
          <a:solidFill>
            <a:srgbClr val="F5F5F5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36896" y="3045651"/>
            <a:ext cx="5120640" cy="274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Two-Way Monolithic Coupling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36896" y="3228530"/>
            <a:ext cx="6070209" cy="902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Porosity–strain:  n = n₀ + εᵥ         Kozeny–Carman: Kₛ=Kₛ₀·[n/n₀]³·[(1−n₀)/(1−n)]²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Bulk density:  ρ₆ = ρₑ + θ(ψ)·ρₘ    →  Simultaneous in single loss function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393192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MC-SSR: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c′ᵣ = c′/SRF;  φ′ᵣ = arctan(tanφ′/SRF)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4343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GHB-SSR: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σ′₁ = σ′₃ + σci·(m₆·σ′₃/σci + s)^a  → reduce m₆, s, σci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95360" y="4754880"/>
            <a:ext cx="5205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/ 14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37569973-7952-181B-3B35-A593D1941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914" y="466091"/>
            <a:ext cx="5943600" cy="331978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5. Methodology — Research Flowchart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3393832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1: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 Ulusay et al. (2014) data → Convert to SI → Derive SWCC via Rosetta → Derive E, ν via Hoek-Diederichs → Non-dimensionalize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2: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8×64 FNN (tanh) → Construct monolithic loss function → GradNorm adaptive weighting → Adam 100K epochs → L-BFGS 10K iterations → Validate against analytical + LEM benchmarks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3: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 MC-SSR (c′/SRF, arctan(tanφ′/SRF)) → Run GHB-SSR (reduce m₆, s, σci) → Compare FOS → Identify failure surfaces → Sensitivity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5B2DD-5BB4-5638-D694-9EC85B8C3666}"/>
              </a:ext>
            </a:extLst>
          </p:cNvPr>
          <p:cNvSpPr txBox="1"/>
          <p:nvPr/>
        </p:nvSpPr>
        <p:spPr>
          <a:xfrm>
            <a:off x="1364568" y="3101929"/>
            <a:ext cx="24970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 : Flowchart of Methodology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E1A7848-3F72-22EA-4360-757A32C581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934720"/>
            <a:ext cx="5943600" cy="331724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PINN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445245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Hidden Layers × 64 neurons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tanh activation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0" y="1188720"/>
            <a:ext cx="2011680" cy="10058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1887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Differentiation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∂ψ/∂t, ∇·σ, ∇²u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58000" y="2377440"/>
            <a:ext cx="2011680" cy="15544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2377439"/>
            <a:ext cx="2011680" cy="1554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Loss Function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 = w₁L_PDE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+ w₂L_BC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+ w₃L_IC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+ w₄L_data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4375050"/>
            <a:ext cx="8229600" cy="566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~29,500 trainable parameters  |  10,000–50,000 collocation points  |  GradNorm adaptive weighting  |  Adam → L-BFGS hybrid training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/ 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5167E-B718-8C17-E2E5-04A7322D4980}"/>
              </a:ext>
            </a:extLst>
          </p:cNvPr>
          <p:cNvSpPr txBox="1"/>
          <p:nvPr/>
        </p:nvSpPr>
        <p:spPr>
          <a:xfrm>
            <a:off x="3172266" y="3999158"/>
            <a:ext cx="2799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 : Flowchart of PINN architecture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3468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7. Study Area &amp; Primary Data Source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7114" y="914400"/>
            <a:ext cx="786384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1604" y="12485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Işıkdere Lignite Open-Pit Mine, Milas Basin, Muğla, Turkey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372871"/>
              </p:ext>
            </p:extLst>
          </p:nvPr>
        </p:nvGraphicFramePr>
        <p:xfrm>
          <a:off x="640080" y="1631855"/>
          <a:ext cx="7863840" cy="30480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Category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Mine dimensions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 km × 750 m × 170 m depth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/ Since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Turkish Coal Enterprises (TKI) / 2009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Boreholes drilled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(depths 51–170 m)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Packer (Lugeon) tests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423 tests across all hydrostratigraphic units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Structural measurements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452 (bedding + joints, 19 scan-line locations)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weight tests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 specimens across 7 materials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Shear test sets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sets (bedding, underclay, fault gouge, debris)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wells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 wells, weekly for 1 year (Aug 2010–Jul 2011)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publication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Ulusay et al. (2014), Engineering Geology, 181, 261–280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/ 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29259-1FDC-EC68-99D0-DC0676621CF9}"/>
              </a:ext>
            </a:extLst>
          </p:cNvPr>
          <p:cNvSpPr txBox="1"/>
          <p:nvPr/>
        </p:nvSpPr>
        <p:spPr>
          <a:xfrm>
            <a:off x="527533" y="949795"/>
            <a:ext cx="822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 : Data Set Table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Key Material Parameters (Extracted)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863690"/>
              </p:ext>
            </p:extLst>
          </p:nvPr>
        </p:nvGraphicFramePr>
        <p:xfrm>
          <a:off x="710420" y="1389185"/>
          <a:ext cx="6766560" cy="2346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 (kN/m³)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c′ (kPa)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φ′ (°)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GSI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UCS (MPa)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Kₛ (m/s)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Marl (Sekköy Fm.)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14.9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4.4*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15.4*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≈10⁻⁹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zone marl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16.9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4.29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≈10⁻⁹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Tuffite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14.4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34.2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3.59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≈10⁻⁹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Coal seam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8.6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3.5×10⁻⁶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Underclay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18.4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19.2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≈0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Slope debris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17.6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8.9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21.7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0167" y="3791247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 Residual strength (back-analysis validated: c = 4.4 kPa, φ = 15.4° for smooth bedding)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79" y="4107766"/>
            <a:ext cx="728706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Hoek-Brown Parameters (D = 1 for all units, production blasting)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4448910"/>
            <a:ext cx="7863840" cy="538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Coal seam K from 80 Packer tests: 0.1–0.5 m/day | Storage coeff.: 0.00003 | Bedrock K: 0.27 m/day (below pit bottom)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/ 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337113-AC88-8588-028B-0AABD3B2DF74}"/>
              </a:ext>
            </a:extLst>
          </p:cNvPr>
          <p:cNvSpPr txBox="1"/>
          <p:nvPr/>
        </p:nvSpPr>
        <p:spPr>
          <a:xfrm>
            <a:off x="576773" y="1019051"/>
            <a:ext cx="822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 : Key Material Table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8. Software Tools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503332"/>
              </p:ext>
            </p:extLst>
          </p:nvPr>
        </p:nvGraphicFramePr>
        <p:xfrm>
          <a:off x="640080" y="1459524"/>
          <a:ext cx="7863840" cy="34137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Tool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Purpose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Python 3.10+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Primary programming language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PyTorch 2.x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NN construction, automatic differentiation, GPU training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NumPy / SciPy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Numerical computations, L-BFGS optimizer, analytical benchmarks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Rosetta3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Van Genuchten SWCC parameter derivation from grain size data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Matplotlib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Publication-quality figures (stress fields, convergence, failure surfaces)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RocScience Slide/RS2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Independent LEM/FEM-SSR validation (same tool used by Ulusay et al.)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LaTeX / MS Word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Manuscript preparation for Q1 journal submission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20FA4-6323-13D5-C9D9-57A931EE3A8E}"/>
              </a:ext>
            </a:extLst>
          </p:cNvPr>
          <p:cNvSpPr txBox="1"/>
          <p:nvPr/>
        </p:nvSpPr>
        <p:spPr>
          <a:xfrm>
            <a:off x="541604" y="1019051"/>
            <a:ext cx="822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4 : Software tools Table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9. Possible Outcomes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4864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1097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Validated Framework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0" y="10972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Mesh-free PINN for fully coupled transient HM analysis in heterogeneous, multi-layered open-pit mine slopes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54864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7190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Dual-Criteria FOS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0" y="171907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Quantitative comparison of Mohr-Coulomb vs. Hoek-Brown FOS expected 2-8% difference; sensitivity to failure criterion choice quantified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340864"/>
            <a:ext cx="54864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23408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Coupling Impact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0" y="2340864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Two-way monolithic coupling expected to produce FOS 10–20% lower than one-way sequential during rainfall — quantifies safety overestimation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2962656"/>
            <a:ext cx="54864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296265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Failure Surfaces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2962656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Automatic identification from shear strain fields without geometric assumptions; compound/multi-planar mechanisms expected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 / 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DFAB10A-389C-6411-BA4E-AD120DB57E18}"/>
              </a:ext>
            </a:extLst>
          </p:cNvPr>
          <p:cNvSpPr txBox="1"/>
          <p:nvPr/>
        </p:nvSpPr>
        <p:spPr>
          <a:xfrm>
            <a:off x="640080" y="1971586"/>
            <a:ext cx="7863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Broodim" pitchFamily="50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1556</Words>
  <Application>Microsoft Office PowerPoint</Application>
  <PresentationFormat>On-screen Show (16:9)</PresentationFormat>
  <Paragraphs>238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Broodim</vt:lpstr>
      <vt:lpstr>Calibri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PINN for Coupled HM Slope Stability in Open-Pit Mines</dc:title>
  <dc:subject>PptxGenJS Presentation</dc:subject>
  <dc:creator>Thesis Candidate</dc:creator>
  <cp:lastModifiedBy>ABRAR MAHIR</cp:lastModifiedBy>
  <cp:revision>5</cp:revision>
  <dcterms:created xsi:type="dcterms:W3CDTF">2026-04-11T15:12:55Z</dcterms:created>
  <dcterms:modified xsi:type="dcterms:W3CDTF">2026-04-13T05:37:10Z</dcterms:modified>
</cp:coreProperties>
</file>